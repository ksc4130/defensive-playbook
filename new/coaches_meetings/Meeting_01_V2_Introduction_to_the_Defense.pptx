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RIVER VALLEY VIKINGS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6CACE4"/>
                </a:solidFill>
                <a:latin typeface="Calibri"/>
              </a:defRPr>
            </a:pPr>
            <a:r>
              <a:t>2026 DEFENSIVE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FA700"/>
                </a:solidFill>
                <a:latin typeface="Calibri"/>
              </a:defRPr>
            </a:pPr>
            <a:r>
              <a:t>Coaches Meeting 1  |  Introduction to the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Confidential — Coaching Staff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TODAY’S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1.  </a:t>
            </a:r>
            <a:r>
              <a:rPr sz="2400" b="0">
                <a:solidFill>
                  <a:srgbClr val="333333"/>
                </a:solidFill>
                <a:latin typeface="Calibri"/>
              </a:rPr>
              <a:t>Defensive Identity — Who We Are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2.  </a:t>
            </a:r>
            <a:r>
              <a:rPr sz="2400" b="0">
                <a:solidFill>
                  <a:srgbClr val="333333"/>
                </a:solidFill>
                <a:latin typeface="Calibri"/>
              </a:rPr>
              <a:t>Position Designations — Our Language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3.  </a:t>
            </a:r>
            <a:r>
              <a:rPr sz="2400" b="0">
                <a:solidFill>
                  <a:srgbClr val="333333"/>
                </a:solidFill>
                <a:latin typeface="Calibri"/>
              </a:rPr>
              <a:t>Technique &amp; Gap Names — Alignment Language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4.  </a:t>
            </a:r>
            <a:r>
              <a:rPr sz="2400" b="0">
                <a:solidFill>
                  <a:srgbClr val="333333"/>
                </a:solidFill>
                <a:latin typeface="Calibri"/>
              </a:rPr>
              <a:t>Call Grammar — How We Communicate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5.  </a:t>
            </a:r>
            <a:r>
              <a:rPr sz="2400" b="0">
                <a:solidFill>
                  <a:srgbClr val="333333"/>
                </a:solidFill>
                <a:latin typeface="Calibri"/>
              </a:rPr>
              <a:t>The System Overview — What’s in the Toolbox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6.  </a:t>
            </a:r>
            <a:r>
              <a:rPr sz="2400" b="0">
                <a:solidFill>
                  <a:srgbClr val="333333"/>
                </a:solidFill>
                <a:latin typeface="Calibri"/>
              </a:rPr>
              <a:t>How It Fits Together — Diagrams</a:t>
            </a:r>
          </a:p>
          <a:p>
            <a:pPr>
              <a:lnSpc>
                <a:spcPts val="3600"/>
              </a:lnSpc>
              <a:spcBef>
                <a:spcPts val="40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7.  </a:t>
            </a:r>
            <a:r>
              <a:rPr sz="2400" b="0">
                <a:solidFill>
                  <a:srgbClr val="333333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2D62"/>
                </a:solidFill>
                <a:latin typeface="Calibri"/>
              </a:defRPr>
            </a:pPr>
            <a:r>
              <a:t>Goal: Walk out speaking the same language, knowing the system, and ready to teach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DEFENSIVE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Who We 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966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CFA700"/>
                </a:solidFill>
                <a:latin typeface="Calibri"/>
              </a:defRPr>
            </a:pPr>
            <a:r>
              <a:t>OUR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We’re a pressure defense. We attack with plus-one advantages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and play zero behind it. When we’re not pressuring,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we play man. If they pick it up, we change the picture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and come again.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We don’t sit back and wait for offenses to beat us. We attack.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We set edges, we own our gaps, and we get 11 hats to the ball.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No explosives. No free yards. Make them earn every first down,</a:t>
            </a:r>
          </a:p>
          <a:p>
            <a:pPr algn="ctr">
              <a:lnSpc>
                <a:spcPts val="3600"/>
              </a:lnSpc>
            </a:pPr>
            <a:r>
              <a:rPr sz="2400" i="1">
                <a:solidFill>
                  <a:srgbClr val="FFFFFF"/>
                </a:solidFill>
                <a:latin typeface="Calibri"/>
              </a:rPr>
              <a:t>and when they don’t, take the ball.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371600"/>
          <a:ext cx="9966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223760"/>
              </a:tblGrid>
              <a:tr h="58782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4-2-5 base; 3-4 / 3-2-6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Two-high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6-man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 + Stunt + Blitz + Coverage/Tags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Signaled front/stunt/blitz; coverage is verbal. Safeties echo and relay.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Multiple looks, simple rules. The picture changes — the principles don’t.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NON-NEGOTIABLES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1. No explosives. </a:t>
            </a:r>
            <a:r>
              <a:rPr sz="1800" b="0">
                <a:solidFill>
                  <a:srgbClr val="333333"/>
                </a:solidFill>
                <a:latin typeface="Calibri"/>
              </a:rPr>
              <a:t>Make them snap it again. Eliminate busts and cheap yards.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2. Aggressive with discipline. </a:t>
            </a:r>
            <a:r>
              <a:rPr sz="1800" b="0">
                <a:solidFill>
                  <a:srgbClr val="333333"/>
                </a:solidFill>
                <a:latin typeface="Calibri"/>
              </a:rPr>
              <a:t>Attack without losing leverage or committing penalties.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3. Box the run. </a:t>
            </a:r>
            <a:r>
              <a:rPr sz="1800" b="0">
                <a:solidFill>
                  <a:srgbClr val="333333"/>
                </a:solidFill>
                <a:latin typeface="Calibri"/>
              </a:rPr>
              <a:t>Set hard edges, compress gaps, keep the ball in help.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4. Relentless pursuit. </a:t>
            </a:r>
            <a:r>
              <a:rPr sz="1800" b="0">
                <a:solidFill>
                  <a:srgbClr val="333333"/>
                </a:solidFill>
                <a:latin typeface="Calibri"/>
              </a:rPr>
              <a:t>11 to the ball, correct angles, swarming tackles.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5. Win situations. </a:t>
            </a:r>
            <a:r>
              <a:rPr sz="1800" b="0">
                <a:solidFill>
                  <a:srgbClr val="333333"/>
                </a:solidFill>
                <a:latin typeface="Calibri"/>
              </a:rPr>
              <a:t>1st down sets the series; 3rd down = get off the field.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6. Smart aggression. </a:t>
            </a:r>
            <a:r>
              <a:rPr sz="1800" b="0">
                <a:solidFill>
                  <a:srgbClr val="333333"/>
                </a:solidFill>
                <a:latin typeface="Calibri"/>
              </a:rPr>
              <a:t>Plus-one rushers with zero behind it. No-win for the offense. Call off the dawgs when needed.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7. Communication standard. </a:t>
            </a:r>
            <a:r>
              <a:rPr sz="1800" b="0">
                <a:solidFill>
                  <a:srgbClr val="333333"/>
                </a:solidFill>
                <a:latin typeface="Calibri"/>
              </a:rPr>
              <a:t>Simple, loud, early. Everyone echoes. Alerts: BUMP / BANJO / EXCHANGE / UNDER.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The baseline. Every snap, every rep,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busted coverages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know your call, know your rules, communicate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Stay in phase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maintain leverage in man; no trailing, no freelancing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free routes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collision every release; reroute, disrupt timing, deny easy access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lost edges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contain player keeps QB and ball inside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uncovered gaps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adjust instantly if gap changes with stunt/pressure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missed tackles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leverage + near foot + wrap; eliminate YAC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penalties </a:t>
            </a:r>
            <a:r>
              <a:rPr sz="2000" b="0">
                <a:solidFill>
                  <a:srgbClr val="333333"/>
                </a:solidFill>
                <a:latin typeface="Calibri"/>
              </a:rPr>
              <a:t>that extend drives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No loafs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pursuit is mandatory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WILL LIVE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D62"/>
                </a:solidFill>
                <a:latin typeface="Calibri"/>
              </a:defRPr>
            </a:pPr>
            <a:r>
              <a:t>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"Bring the STORM."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75488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Sound. Gap integrity, assignment football.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Tough. Physical at the point, finish every rep.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O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Overwhelming. Plus-one advantage, pressure from every angle.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R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Relentless. 11 to the ball, pursuit is mandatory.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M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Multiple. Same shell, different answers, keep them guessing.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D62"/>
                </a:solidFill>
                <a:latin typeface="Calibri"/>
              </a:defRPr>
            </a:pPr>
            <a:r>
              <a:t>HAVOC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"Create HAVOC."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75488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H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Hit. Collision every route, attack the ball carrier.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Attack. Pressure with purpose. Zeus, Zorro, zero.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V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Violence at the point. Win at the LOS, dominate gaps.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O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Overwhelm. Multiple looks, disguise, put them in conflict.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Contain. No lost edges, no free runners, discipline in chaos.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2D62"/>
                </a:solidFill>
                <a:latin typeface="Calibri"/>
              </a:defRPr>
            </a:pPr>
            <a:r>
              <a:t>This is what we stand for. Pick the one that fits.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POSITION DESIGNATIONS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Our 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11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6492240"/>
              </a:tblGrid>
              <a:tr h="441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Letter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Attributes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Corner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Speed, cover skills, tackling in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Safety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Range, communication, run support, ball skills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Bandit (Nickel)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Versatile — DB in coverage, OLB in 3-down; physical, athletic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Anchor (Field DE)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setter, pass rusher, QB player (CAMP)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Tackle (Field DT)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Power, interior push, gap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Nose (Boundary DT)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Anchor, interior push, gap control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(Boundary 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setter, pass rusher; OLB in 3-down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Mike (Field ILB)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Instincts, physicality, coverage range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Will (Boundary ILB)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Instincts, physicality, coverage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Dawg (Boundary 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Physicality, run support, communication, coverage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 Corner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Physical, press ability, tackling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DEFAULT SIDES &amp; KEY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FIELD SIDE (wide 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 (Anchor) — Field DE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 (Tackle) — Field DT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 (Bandit) — Nickel / Field force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FC / FS — Field corner &amp;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BOUNDARY SIDE (short side)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E (Edge) — Boundary DE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N (Nose) — Boundary DT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 (Dawg) — Boundary safety / force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BC — Boundary corner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Key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Contain: </a:t>
            </a:r>
            <a:r>
              <a:rPr sz="1600" b="0">
                <a:solidFill>
                  <a:srgbClr val="333333"/>
                </a:solidFill>
                <a:latin typeface="Calibri"/>
              </a:rPr>
              <a:t>Maintain outside leverage. Squeeze run inside. Set the edge.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Force: </a:t>
            </a:r>
            <a:r>
              <a:rPr sz="1600" b="0">
                <a:solidFill>
                  <a:srgbClr val="333333"/>
                </a:solidFill>
                <a:latin typeface="Calibri"/>
              </a:rPr>
              <a:t>Collision at or behind LOS. Turn the ball inside. More aggressive than contain.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CAMP: </a:t>
            </a:r>
            <a:r>
              <a:rPr sz="1600" b="0">
                <a:solidFill>
                  <a:srgbClr val="333333"/>
                </a:solidFill>
                <a:latin typeface="Calibri"/>
              </a:rPr>
              <a:t>A ‘CAMP rule’ is a default rule — it’s always on unless told otherwise. Example: whoever has contain has the QB.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Safeties are fixers. </a:t>
            </a:r>
            <a:r>
              <a:rPr sz="1600" b="0">
                <a:solidFill>
                  <a:srgbClr val="333333"/>
                </a:solidFill>
                <a:latin typeface="Calibri"/>
              </a:rPr>
              <a:t>FS owns field-side calls. D owns boundary-side calls. They echo and relay.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TECHNIQUE &amp; GAP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Alignment Language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DL TECHNIQUE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234440"/>
          <a:ext cx="9418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</a:tblGrid>
              <a:tr h="35356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Alignment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 on Center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Guard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Tackle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Wing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Wing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GAP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Every gap has a name. Every defender owns a gap.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01168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</a:tblGrid>
              <a:tr h="49638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Center and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 Gap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Guard and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Tackle and TE (or outside Tackle if no 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Gap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the 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the 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Alley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contain lane — where the force / contain player operates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Gaps exist on both sides of the center. A/B/C/D field + A/B/C/D boundary.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CALL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How We Communicate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2D62"/>
                </a:solidFill>
                <a:latin typeface="Calibri"/>
              </a:rPr>
              <a:t>FRONT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8B0000"/>
                </a:solidFill>
                <a:latin typeface="Calibri"/>
              </a:rPr>
              <a:t>STUNT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006B3C"/>
                </a:solidFill>
                <a:latin typeface="Calibri"/>
              </a:rPr>
              <a:t>BLITZ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CFA700"/>
                </a:solidFill>
                <a:latin typeface="Calibri"/>
              </a:rPr>
              <a:t>COVERAGE / 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Examples: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SHADE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NINJA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UNDER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8B0000"/>
                </a:solidFill>
                <a:latin typeface="Calibri"/>
              </a:rPr>
              <a:t>SLANT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GRIZZLY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006B3C"/>
                </a:solidFill>
                <a:latin typeface="Calibri"/>
              </a:rPr>
              <a:t>sWarM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EYES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8B0000"/>
                </a:solidFill>
                <a:latin typeface="Calibri"/>
              </a:rPr>
              <a:t>JACKS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006B3C"/>
                </a:solidFill>
                <a:latin typeface="Calibri"/>
              </a:rPr>
              <a:t>sWarM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ZORRO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Front/stunt/blitz calls signaled — coverage is verbal. Safeties echo and relay.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TEMPO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When the offense’s tempo is faster than we can signal,</a:t>
            </a:r>
            <a:br/>
            <a:r>
              <a:t>the defense defaults to the tempo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solidFill>
            <a:srgbClr val="002D62"/>
          </a:solidFill>
          <a:ln>
            <a:solidFill>
              <a:srgbClr val="CF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6675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DEFAULT:  SHADE + NINJA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70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Set before each possession. Can change at any point during the game.</a:t>
            </a:r>
          </a:p>
          <a:p>
            <a:pPr>
              <a:lnSpc>
                <a:spcPts val="270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Safeties must know the current tempo call at all times.</a:t>
            </a:r>
          </a:p>
          <a:p>
            <a:pPr>
              <a:lnSpc>
                <a:spcPts val="270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Tempo call is our safety net — everyone knows exactly what to 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What’s in the Toolbox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FRONT MENU  —  4-DOWN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6858000"/>
              </a:tblGrid>
              <a:tr h="508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Interior (A/T/N/E)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 / 2i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front. 3-tech field, 2i boundary. Our home.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UNDER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2i / 3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Flipped interior. 3-tech to boundary.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2i / 2i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Balanced interior. Both DTs inside shade.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WIDE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 / 3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Both DTs outside shade. Closes B gaps, forces bounce.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DEUCES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 / 2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Head-up guards. Read-and-react interior.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GRIZZLY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 / 2i / 2i / 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Tight interior. Edges at 4i. Goal-line / short-yardage.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3(F) / 1(F)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Both DTs set field. Overload look.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BOSS UNDER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1(B) / 3(B)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Both DTs set boundary. Overload look.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2D62"/>
                </a:solidFill>
                <a:latin typeface="Calibri"/>
              </a:defRPr>
            </a:pPr>
            <a:r>
              <a:t>TE SET rule overrides all fronts except GRIZZLY when TE is attached.</a:t>
            </a:r>
            <a:br/>
            <a:r>
              <a:t>(F) = both DTs set to field. (B) = both DTs set to boundary.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3-DOWN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Our odd-front package. Triggered by offensive personnel.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126480"/>
              </a:tblGrid>
              <a:tr h="58521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Interior (A/T/N)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 / 0 / 4i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3-down. Contain adjusts by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/ 0 / 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2-gap interior. Physical, read-and-react.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0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Edges at 5. T is 2-gapping.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SLIP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0 / 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1-gap. Takes B out of run/pass conflict.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B = Field OLB.  E = Boundary OLB.  Strength = Field.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STUNT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Coordinated DL movement. In 4-down: stunts involve T+N. In 3-down: A joins.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SLANT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field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ANGLE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boundary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PINCH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Pinch inside (A gaps / B gaps)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JACKS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Shoot out (B gaps / C gaps)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VEER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motion / to TE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SPLIT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BOSS / BOSS UNDER / GRIZZLY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CRASH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Everyone shoots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ANCHOR ATTACK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A washes OL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EDGE ATTACK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 washes OL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ANCHOR RAVEN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A shoots B gap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EDGE RAVEN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 shoots B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2D62"/>
                </a:solidFill>
                <a:latin typeface="Calibri"/>
              </a:defRPr>
            </a:pPr>
            <a:r>
              <a:t>Front-stunt legality matrix exists — not every stunt works with every front.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PRESSURE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Singles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Mike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Will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Bandit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Dawg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Combos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sWarM (M+W)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BooM (B+M)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BoW (B+W)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MaD (M+D)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Eat (M+W+B)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Packaged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657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Hammer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B edge + Anchor Attack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Shave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W edge + Edge Attack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Bandit Raven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B blitzes C, A shoots B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Will Raven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W blitzes C, E shoots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MUG: M and/or W walk up to the LOS at their gap. Same job, different picture.</a:t>
            </a:r>
            <a:br/>
            <a:r>
              <a:t>Weekly menu locked by Friday. Game-plan specials installed as needed.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FOUR COVERAGE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NINJA  —  MOD / CLAMP / POACH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Pattern-match quarters. Our base coverage. Most of our snaps. Two-high shell stays two-high.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COVER 1  (One Free Man)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Oregon (FS = MOF) / Oklahoma (D = MOF) / Ohio (B = MOF). Man assignments + one free safety.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COVER 0 / Z-FAMILY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Zero coverage. Zeus / Zorro / Zunnel / Zill / Zike. Run-first reads, then rush. No deep help.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VIKING  (Cover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Spot-drop Cover 3. Safe, anti-explosive. Primary call-off after showing Zeus.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Zeus and Zorro are our identity. NINJA is the engine. Viking is the safety net.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Same picture pre-snap. Different answers post-snap.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SHADE + NINJA  —  BASE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SHADE + ZEUS  —  RUN-FIRST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SHADE + OREGON  —  COVER 1 (ONE FREE)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SHADE + ANGLE + MIKE + ZEUS  —  PRESSURE FROM DISGUISE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SHELLS, THREE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704088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4-Down Fronts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SHADE, UNDER, EYES, WIDE, DEUCES, GRIZZLY, BOSS, BOSS 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3-Down Packages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MINT, ACE, JET, SLIP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SLANT, ANGLE, PINCH, JACKS, SPLIT, CRASH, VEER, AA, EA, AR, 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Pressures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Mike, Will, Bandit, Dawg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Combo Pressures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sWarM, BooM, BoW, MaD, 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Packaged Pressures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Hammer, Shave, Bandit Raven, Will Raven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NINJA, Cover 1, Cover 0/Z, VIKING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Z-Family Calls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Zeus, Zorro, Zunnel, Zill, Zike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BUMP, BANJO, EXCHANGE, 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Multiple looks. Simple, consistent rules. Layered install.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Playbook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Full document (27+ sections) will be shared via Google Drive after this meeting.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Unit meetings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DL, LBs, DBs will each get deep-dives on their responsibilities.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Diagram documents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Visual references for every front, coverage, and pressure.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Quick-reference cards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M/W gap fits, NINJA teaching summary, coverage families, Bandit assignment.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Camp install plan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Coming once camp schedule is finalized.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3-2-6 shell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In development with Coach J. Arndt. Same rules, different personnel package.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This presentation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Will be on the Drive after the meeting.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NO EXPLOSIVES.  NO FREE YARDS.</a:t>
            </a:r>
          </a:p>
          <a:p>
            <a:pPr algn="ctr">
              <a:lnSpc>
                <a:spcPts val="42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MAKE THEM EARN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FA700"/>
                </a:solidFill>
                <a:latin typeface="Calibri"/>
              </a:defRPr>
            </a:pPr>
            <a:r>
              <a:t>River Valley Vikings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6CACE4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