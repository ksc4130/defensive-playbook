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RIVER VALLEY VIKINGS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0">
                <a:solidFill>
                  <a:srgbClr val="6CACE4"/>
                </a:solidFill>
                <a:latin typeface="Calibri"/>
              </a:defRPr>
            </a:pPr>
            <a:r>
              <a:t>2026 DEFENSIVE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CFA700"/>
                </a:solidFill>
                <a:latin typeface="Calibri"/>
              </a:defRPr>
            </a:pPr>
            <a:r>
              <a:t>Coaches Introduction  |  Meeting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Confidential — Coaching Staff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TODAY’S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14400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4160"/>
              </a:lnSpc>
              <a:spcBef>
                <a:spcPts val="400"/>
              </a:spcBef>
              <a:spcAft>
                <a:spcPts val="200"/>
              </a:spcAft>
            </a:pPr>
            <a:r>
              <a:rPr sz="2600" b="1">
                <a:solidFill>
                  <a:srgbClr val="333333"/>
                </a:solidFill>
                <a:latin typeface="Calibri"/>
              </a:rPr>
              <a:t>1.  </a:t>
            </a:r>
            <a:r>
              <a:rPr sz="2600" b="0">
                <a:solidFill>
                  <a:srgbClr val="333333"/>
                </a:solidFill>
                <a:latin typeface="Calibri"/>
              </a:rPr>
              <a:t>Defensive Identity &amp; Philosophy</a:t>
            </a:r>
          </a:p>
          <a:p>
            <a:pPr>
              <a:lnSpc>
                <a:spcPts val="4160"/>
              </a:lnSpc>
              <a:spcBef>
                <a:spcPts val="400"/>
              </a:spcBef>
              <a:spcAft>
                <a:spcPts val="200"/>
              </a:spcAft>
            </a:pPr>
            <a:r>
              <a:rPr sz="2600" b="1">
                <a:solidFill>
                  <a:srgbClr val="333333"/>
                </a:solidFill>
                <a:latin typeface="Calibri"/>
              </a:rPr>
              <a:t>2.  </a:t>
            </a:r>
            <a:r>
              <a:rPr sz="2600" b="0">
                <a:solidFill>
                  <a:srgbClr val="333333"/>
                </a:solidFill>
                <a:latin typeface="Calibri"/>
              </a:rPr>
              <a:t>Position Designations — Our Language</a:t>
            </a:r>
          </a:p>
          <a:p>
            <a:pPr>
              <a:lnSpc>
                <a:spcPts val="4160"/>
              </a:lnSpc>
              <a:spcBef>
                <a:spcPts val="400"/>
              </a:spcBef>
              <a:spcAft>
                <a:spcPts val="200"/>
              </a:spcAft>
            </a:pPr>
            <a:r>
              <a:rPr sz="2600" b="1">
                <a:solidFill>
                  <a:srgbClr val="333333"/>
                </a:solidFill>
                <a:latin typeface="Calibri"/>
              </a:rPr>
              <a:t>3.  </a:t>
            </a:r>
            <a:r>
              <a:rPr sz="2600" b="0">
                <a:solidFill>
                  <a:srgbClr val="333333"/>
                </a:solidFill>
                <a:latin typeface="Calibri"/>
              </a:rPr>
              <a:t>Call Grammar — How We Communicate</a:t>
            </a:r>
          </a:p>
          <a:p>
            <a:pPr>
              <a:lnSpc>
                <a:spcPts val="4160"/>
              </a:lnSpc>
              <a:spcBef>
                <a:spcPts val="400"/>
              </a:spcBef>
              <a:spcAft>
                <a:spcPts val="200"/>
              </a:spcAft>
            </a:pPr>
            <a:r>
              <a:rPr sz="2600" b="1">
                <a:solidFill>
                  <a:srgbClr val="333333"/>
                </a:solidFill>
                <a:latin typeface="Calibri"/>
              </a:rPr>
              <a:t>4.  </a:t>
            </a:r>
            <a:r>
              <a:rPr sz="2600" b="0">
                <a:solidFill>
                  <a:srgbClr val="333333"/>
                </a:solidFill>
                <a:latin typeface="Calibri"/>
              </a:rPr>
              <a:t>The System Overview — What’s in the Toolbox</a:t>
            </a:r>
          </a:p>
          <a:p>
            <a:pPr>
              <a:lnSpc>
                <a:spcPts val="4160"/>
              </a:lnSpc>
              <a:spcBef>
                <a:spcPts val="400"/>
              </a:spcBef>
              <a:spcAft>
                <a:spcPts val="200"/>
              </a:spcAft>
            </a:pPr>
            <a:r>
              <a:rPr sz="2600" b="1">
                <a:solidFill>
                  <a:srgbClr val="333333"/>
                </a:solidFill>
                <a:latin typeface="Calibri"/>
              </a:rPr>
              <a:t>5.  </a:t>
            </a:r>
            <a:r>
              <a:rPr sz="2600" b="0">
                <a:solidFill>
                  <a:srgbClr val="333333"/>
                </a:solidFill>
                <a:latin typeface="Calibri"/>
              </a:rPr>
              <a:t>How It Fits Together</a:t>
            </a:r>
          </a:p>
          <a:p>
            <a:pPr>
              <a:lnSpc>
                <a:spcPts val="4160"/>
              </a:lnSpc>
              <a:spcBef>
                <a:spcPts val="400"/>
              </a:spcBef>
              <a:spcAft>
                <a:spcPts val="200"/>
              </a:spcAft>
            </a:pPr>
            <a:r>
              <a:rPr sz="2600" b="1">
                <a:solidFill>
                  <a:srgbClr val="333333"/>
                </a:solidFill>
                <a:latin typeface="Calibri"/>
              </a:rPr>
              <a:t>6.  </a:t>
            </a:r>
            <a:r>
              <a:rPr sz="2600" b="0">
                <a:solidFill>
                  <a:srgbClr val="333333"/>
                </a:solidFill>
                <a:latin typeface="Calibri"/>
              </a:rPr>
              <a:t>What Comes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02D62"/>
                </a:solidFill>
                <a:latin typeface="Calibri"/>
              </a:defRPr>
            </a:pPr>
            <a:r>
              <a:t>Goal: Understand WHO we are, HOW we talk, and WHAT the system looks like.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DEFENSIVE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6CACE4"/>
                </a:solidFill>
                <a:latin typeface="Calibri"/>
              </a:defRPr>
            </a:pPr>
            <a:r>
              <a:t>Who We 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400"/>
              </a:lnSpc>
              <a:defRPr sz="3000" b="0">
                <a:solidFill>
                  <a:srgbClr val="FFFFFF"/>
                </a:solidFill>
                <a:latin typeface="Calibri"/>
              </a:defRPr>
            </a:pPr>
            <a:r>
              <a:rPr sz="2800" i="1">
                <a:solidFill>
                  <a:srgbClr val="FFFFFF"/>
                </a:solidFill>
                <a:latin typeface="Calibri"/>
              </a:rPr>
              <a:t>“We play fast, physical, and disciplined football.
Our job is to remove explosive plays, control the box,
and force the offense to execute perfectly
for an entire drive.”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BASE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371600"/>
          <a:ext cx="9966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223760"/>
              </a:tblGrid>
              <a:tr h="58782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Element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Personnel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4-2-5 base; 3-4 packages (Mint / Ace / Jet / Slip)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Field ("protect space")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Two-high (pre-snap disguise)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Box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6-man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Call 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Front + Stunt + Blitz + Coverage/Tags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Communication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Signaled (front/stunt/blitz); coverage is verbal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" y="5760720"/>
            <a:ext cx="9966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Multiple looks, simple rules. The picture changes — the principles don’t.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NON-NEGOTIABLES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43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1. No explosives. </a:t>
            </a:r>
            <a:r>
              <a:rPr sz="1800" b="0">
                <a:solidFill>
                  <a:srgbClr val="333333"/>
                </a:solidFill>
                <a:latin typeface="Calibri"/>
              </a:rPr>
              <a:t>Make them snap it again.</a:t>
            </a:r>
          </a:p>
          <a:p>
            <a:pPr>
              <a:lnSpc>
                <a:spcPts val="243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2. Aggressive with discipline. </a:t>
            </a:r>
            <a:r>
              <a:rPr sz="1800" b="0">
                <a:solidFill>
                  <a:srgbClr val="333333"/>
                </a:solidFill>
                <a:latin typeface="Calibri"/>
              </a:rPr>
              <a:t>Attack without losing leverage or committing penalties.</a:t>
            </a:r>
          </a:p>
          <a:p>
            <a:pPr>
              <a:lnSpc>
                <a:spcPts val="243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3. Box the run. </a:t>
            </a:r>
            <a:r>
              <a:rPr sz="1800" b="0">
                <a:solidFill>
                  <a:srgbClr val="333333"/>
                </a:solidFill>
                <a:latin typeface="Calibri"/>
              </a:rPr>
              <a:t>Set hard edges, compress gaps, keep the ball in help.</a:t>
            </a:r>
          </a:p>
          <a:p>
            <a:pPr>
              <a:lnSpc>
                <a:spcPts val="243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4. Relentless pursuit. </a:t>
            </a:r>
            <a:r>
              <a:rPr sz="1800" b="0">
                <a:solidFill>
                  <a:srgbClr val="333333"/>
                </a:solidFill>
                <a:latin typeface="Calibri"/>
              </a:rPr>
              <a:t>11 to the ball, correct angles, swarming tackles.</a:t>
            </a:r>
          </a:p>
          <a:p>
            <a:pPr>
              <a:lnSpc>
                <a:spcPts val="243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5. Win leverage. </a:t>
            </a:r>
            <a:r>
              <a:rPr sz="1800" b="0">
                <a:solidFill>
                  <a:srgbClr val="333333"/>
                </a:solidFill>
                <a:latin typeface="Calibri"/>
              </a:rPr>
              <a:t>Outside vs perimeter; inside vs quick game.</a:t>
            </a:r>
          </a:p>
          <a:p>
            <a:pPr>
              <a:lnSpc>
                <a:spcPts val="243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6. Win situations. </a:t>
            </a:r>
            <a:r>
              <a:rPr sz="1800" b="0">
                <a:solidFill>
                  <a:srgbClr val="333333"/>
                </a:solidFill>
                <a:latin typeface="Calibri"/>
              </a:rPr>
              <a:t>1st down sets the series; 3rd down = get off the field.</a:t>
            </a:r>
          </a:p>
          <a:p>
            <a:pPr>
              <a:lnSpc>
                <a:spcPts val="243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7. Smart aggression. </a:t>
            </a:r>
            <a:r>
              <a:rPr sz="1800" b="0">
                <a:solidFill>
                  <a:srgbClr val="333333"/>
                </a:solidFill>
                <a:latin typeface="Calibri"/>
              </a:rPr>
              <a:t>Plus-one rushers to blockers with zero coverage behind it. No-win situation for the offense.</a:t>
            </a:r>
          </a:p>
          <a:p>
            <a:pPr>
              <a:lnSpc>
                <a:spcPts val="243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8. Communication standard. </a:t>
            </a:r>
            <a:r>
              <a:rPr sz="1800" b="0">
                <a:solidFill>
                  <a:srgbClr val="333333"/>
                </a:solidFill>
                <a:latin typeface="Calibri"/>
              </a:rPr>
              <a:t>Simple, loud, early. Everyone echoes.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Six standards. No exceptions.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6696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3300"/>
              </a:lnSpc>
              <a:spcBef>
                <a:spcPts val="400"/>
              </a:spcBef>
              <a:spcAft>
                <a:spcPts val="200"/>
              </a:spcAft>
            </a:pPr>
            <a:r>
              <a:rPr sz="2200" b="1">
                <a:solidFill>
                  <a:srgbClr val="333333"/>
                </a:solidFill>
                <a:latin typeface="Calibri"/>
              </a:rPr>
              <a:t>No lost edges </a:t>
            </a:r>
            <a:r>
              <a:rPr sz="2200" b="0">
                <a:solidFill>
                  <a:srgbClr val="333333"/>
                </a:solidFill>
                <a:latin typeface="Calibri"/>
              </a:rPr>
              <a:t>— contain player keeps QB and ball inside</a:t>
            </a:r>
          </a:p>
          <a:p>
            <a:pPr>
              <a:lnSpc>
                <a:spcPts val="3300"/>
              </a:lnSpc>
              <a:spcBef>
                <a:spcPts val="400"/>
              </a:spcBef>
              <a:spcAft>
                <a:spcPts val="200"/>
              </a:spcAft>
            </a:pPr>
            <a:r>
              <a:rPr sz="2200" b="1">
                <a:solidFill>
                  <a:srgbClr val="333333"/>
                </a:solidFill>
                <a:latin typeface="Calibri"/>
              </a:rPr>
              <a:t>No uncovered gaps </a:t>
            </a:r>
            <a:r>
              <a:rPr sz="2200" b="0">
                <a:solidFill>
                  <a:srgbClr val="333333"/>
                </a:solidFill>
                <a:latin typeface="Calibri"/>
              </a:rPr>
              <a:t>— adjust instantly if gap changes with stunt/pressure</a:t>
            </a:r>
          </a:p>
          <a:p>
            <a:pPr>
              <a:lnSpc>
                <a:spcPts val="3300"/>
              </a:lnSpc>
              <a:spcBef>
                <a:spcPts val="400"/>
              </a:spcBef>
              <a:spcAft>
                <a:spcPts val="200"/>
              </a:spcAft>
            </a:pPr>
            <a:r>
              <a:rPr sz="2200" b="1">
                <a:solidFill>
                  <a:srgbClr val="333333"/>
                </a:solidFill>
                <a:latin typeface="Calibri"/>
              </a:rPr>
              <a:t>No free releases </a:t>
            </a:r>
            <a:r>
              <a:rPr sz="2200" b="0">
                <a:solidFill>
                  <a:srgbClr val="333333"/>
                </a:solidFill>
                <a:latin typeface="Calibri"/>
              </a:rPr>
              <a:t>— collision every route; reroute, disrupt timing, deny easy access</a:t>
            </a:r>
          </a:p>
          <a:p>
            <a:pPr>
              <a:lnSpc>
                <a:spcPts val="3300"/>
              </a:lnSpc>
              <a:spcBef>
                <a:spcPts val="400"/>
              </a:spcBef>
              <a:spcAft>
                <a:spcPts val="200"/>
              </a:spcAft>
            </a:pPr>
            <a:r>
              <a:rPr sz="2200" b="1">
                <a:solidFill>
                  <a:srgbClr val="333333"/>
                </a:solidFill>
                <a:latin typeface="Calibri"/>
              </a:rPr>
              <a:t>No missed tackles </a:t>
            </a:r>
            <a:r>
              <a:rPr sz="2200" b="0">
                <a:solidFill>
                  <a:srgbClr val="333333"/>
                </a:solidFill>
                <a:latin typeface="Calibri"/>
              </a:rPr>
              <a:t>— leverage + near foot + wrap; eliminate YAC</a:t>
            </a:r>
          </a:p>
          <a:p>
            <a:pPr>
              <a:lnSpc>
                <a:spcPts val="3300"/>
              </a:lnSpc>
              <a:spcBef>
                <a:spcPts val="400"/>
              </a:spcBef>
              <a:spcAft>
                <a:spcPts val="200"/>
              </a:spcAft>
            </a:pPr>
            <a:r>
              <a:rPr sz="2200" b="1">
                <a:solidFill>
                  <a:srgbClr val="333333"/>
                </a:solidFill>
                <a:latin typeface="Calibri"/>
              </a:rPr>
              <a:t>No penalties </a:t>
            </a:r>
            <a:r>
              <a:rPr sz="2200" b="0">
                <a:solidFill>
                  <a:srgbClr val="333333"/>
                </a:solidFill>
                <a:latin typeface="Calibri"/>
              </a:rPr>
              <a:t>that extend drives</a:t>
            </a:r>
          </a:p>
          <a:p>
            <a:pPr>
              <a:lnSpc>
                <a:spcPts val="3300"/>
              </a:lnSpc>
              <a:spcBef>
                <a:spcPts val="400"/>
              </a:spcBef>
              <a:spcAft>
                <a:spcPts val="200"/>
              </a:spcAft>
            </a:pPr>
            <a:r>
              <a:rPr sz="2200" b="1">
                <a:solidFill>
                  <a:srgbClr val="333333"/>
                </a:solidFill>
                <a:latin typeface="Calibri"/>
              </a:rPr>
              <a:t>No loafs </a:t>
            </a:r>
            <a:r>
              <a:rPr sz="2200" b="0">
                <a:solidFill>
                  <a:srgbClr val="333333"/>
                </a:solidFill>
                <a:latin typeface="Calibri"/>
              </a:rPr>
              <a:t>— pursuit is mandatory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POSITION DESIGNATIONS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6CACE4"/>
                </a:solidFill>
                <a:latin typeface="Calibri"/>
              </a:defRPr>
            </a:pPr>
            <a:r>
              <a:t>Our Language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11 POSITIONS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110642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6492240"/>
              </a:tblGrid>
              <a:tr h="4419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Letter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Identity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Field Corner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Lockdown corner. Speed, cover skills, competitive.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Field Safety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Quarterback of the secondary. Smart, vocal, range.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Bandit (Nickel)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Swiss army knife. Best athlete on defense. DB/OLB hybrid.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Anchor (Field DE)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Edge setter. Anchor strength, contain discipline.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Tackle (Field DT)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Interior disruptor. Size, anchor, pass-rush ability.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Nose (Boundary DT)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Interior disruptor. Size, anchor, pass-rush ability.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Edge (Boundary 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Boundary edge. Versatile — DE in 4-down, OLB in 3-down.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Mike (Field ILB)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Downhill runner. Instincts, tackling, field-side playmaker.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Will (Boundary ILB)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Cutback hunter. Quick, disciplined, boundary-side playmaker.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Dawg (Boundary S)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Boundary fixer. Physical, smart, force player.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Boundary Corner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Lockdown corner. Speed, cover skills, competitive.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DEFAULT SIDES &amp; KEY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201168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02D62"/>
                </a:solidFill>
                <a:latin typeface="Calibri"/>
              </a:defRPr>
            </a:pPr>
            <a:r>
              <a:t>FIELD SIDE (wide side)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663440" cy="1280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08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A (Anchor) — Field DE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T (Tackle) — Field DT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B (Bandit) — Nickel / Field force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FC / FS — Field corner &amp; safety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63040"/>
            <a:ext cx="5029200" cy="201168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663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02D62"/>
                </a:solidFill>
                <a:latin typeface="Calibri"/>
              </a:defRPr>
            </a:pPr>
            <a:r>
              <a:t>BOUNDARY SIDE (short side)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663440" cy="12801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08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E (Edge) — Boundary DE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N (Nose) — Boundary DT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D (Dawg) — Boundary safety / force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Calibri"/>
              </a:rPr>
              <a:t>BC — Boundary corner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02D62"/>
                </a:solidFill>
                <a:latin typeface="Calibri"/>
              </a:defRPr>
            </a:pPr>
            <a:r>
              <a:t>Key Distinctions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10515600" cy="20116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24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Contain: </a:t>
            </a:r>
            <a:r>
              <a:rPr sz="1600" b="0">
                <a:solidFill>
                  <a:srgbClr val="333333"/>
                </a:solidFill>
                <a:latin typeface="Calibri"/>
              </a:rPr>
              <a:t>Maintain outside leverage. Squeeze run inside. Set the edge.</a:t>
            </a:r>
          </a:p>
          <a:p>
            <a:pPr>
              <a:lnSpc>
                <a:spcPts val="224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Force: </a:t>
            </a:r>
            <a:r>
              <a:rPr sz="1600" b="0">
                <a:solidFill>
                  <a:srgbClr val="333333"/>
                </a:solidFill>
                <a:latin typeface="Calibri"/>
              </a:rPr>
              <a:t>Collision at or behind LOS. Turn the ball inside. More aggressive than contain.</a:t>
            </a:r>
          </a:p>
          <a:p>
            <a:pPr>
              <a:lnSpc>
                <a:spcPts val="224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Bandit (B): </a:t>
            </a:r>
            <a:r>
              <a:rPr sz="1600" b="0">
                <a:solidFill>
                  <a:srgbClr val="333333"/>
                </a:solidFill>
                <a:latin typeface="Calibri"/>
              </a:rPr>
              <a:t>Most versatile player on the field. DB in coverage, OLB in 3-down packages.</a:t>
            </a:r>
          </a:p>
          <a:p>
            <a:pPr>
              <a:lnSpc>
                <a:spcPts val="224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Safeties are fixers. </a:t>
            </a:r>
            <a:r>
              <a:rPr sz="1600" b="0">
                <a:solidFill>
                  <a:srgbClr val="333333"/>
                </a:solidFill>
                <a:latin typeface="Calibri"/>
              </a:rPr>
              <a:t>FS owns field-side calls. D owns boundary-side calls.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TECHNIQUE &amp; GAP 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6CACE4"/>
                </a:solidFill>
                <a:latin typeface="Calibri"/>
              </a:defRPr>
            </a:pPr>
            <a:r>
              <a:t>Alignment Language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DL TECHNIQUE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234440"/>
          <a:ext cx="94183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589520"/>
              </a:tblGrid>
              <a:tr h="35356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Alignment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Head up on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Shade on Center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Inside shade on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Head up on Guard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Outside shade on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Inside shade on Tackle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Head up on Tackle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Outside shade on Tackle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Inside shade on 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Head up on TE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Outside shade on 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Inside shade on Wing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Head up on Wing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Outside shade on Wing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GAP NAMES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Every gap has a name. Every defender owns a gap.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2011680"/>
          <a:ext cx="9418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589520"/>
              </a:tblGrid>
              <a:tr h="49638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Between Center and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 Gap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Between Guard and Tackle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Between Tackle and TE (or outside Tackle if no 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 Gap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Outside the TE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Outside the Wing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Alley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Outside contain lane — where the force / contain player operates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Gaps exist on both sides of the center. A/B/C/D field + A/B/C/D boundary.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CALL 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6CACE4"/>
                </a:solidFill>
                <a:latin typeface="Calibri"/>
              </a:defRPr>
            </a:pPr>
            <a:r>
              <a:t>How We Communicate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2D62"/>
                </a:solidFill>
                <a:latin typeface="Calibri"/>
              </a:rPr>
              <a:t>FRONT</a:t>
            </a:r>
            <a:r>
              <a:rPr sz="3600" b="1">
                <a:solidFill>
                  <a:srgbClr val="333333"/>
                </a:solidFill>
                <a:latin typeface="Calibri"/>
              </a:rPr>
              <a:t>  +  </a:t>
            </a:r>
            <a:r>
              <a:rPr sz="3600" b="1">
                <a:solidFill>
                  <a:srgbClr val="8B0000"/>
                </a:solidFill>
                <a:latin typeface="Calibri"/>
              </a:rPr>
              <a:t>STUNT</a:t>
            </a:r>
            <a:r>
              <a:rPr sz="3600" b="1">
                <a:solidFill>
                  <a:srgbClr val="333333"/>
                </a:solidFill>
                <a:latin typeface="Calibri"/>
              </a:rPr>
              <a:t>  +  </a:t>
            </a:r>
            <a:r>
              <a:rPr sz="3600" b="1">
                <a:solidFill>
                  <a:srgbClr val="006B3C"/>
                </a:solidFill>
                <a:latin typeface="Calibri"/>
              </a:rPr>
              <a:t>BLITZ</a:t>
            </a:r>
            <a:r>
              <a:rPr sz="3600" b="1">
                <a:solidFill>
                  <a:srgbClr val="333333"/>
                </a:solidFill>
                <a:latin typeface="Calibri"/>
              </a:rPr>
              <a:t>  +  </a:t>
            </a:r>
            <a:r>
              <a:rPr sz="3600" b="1">
                <a:solidFill>
                  <a:srgbClr val="CFA700"/>
                </a:solidFill>
                <a:latin typeface="Calibri"/>
              </a:rPr>
              <a:t>COVERAGE / TAGS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02D62"/>
                </a:solidFill>
                <a:latin typeface="Calibri"/>
              </a:defRPr>
            </a:pPr>
            <a:r>
              <a:t>Examples: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2D62"/>
                </a:solidFill>
                <a:latin typeface="Calibri"/>
              </a:rPr>
              <a:t>SHADE</a:t>
            </a:r>
            <a:r>
              <a:rPr sz="2200" b="0">
                <a:solidFill>
                  <a:srgbClr val="333333"/>
                </a:solidFill>
                <a:latin typeface="Calibri"/>
              </a:rPr>
              <a:t> + </a:t>
            </a:r>
            <a:r>
              <a:rPr sz="2200" b="1">
                <a:solidFill>
                  <a:srgbClr val="CFA700"/>
                </a:solidFill>
                <a:latin typeface="Calibri"/>
              </a:rPr>
              <a:t>NINJA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69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2D62"/>
                </a:solidFill>
                <a:latin typeface="Calibri"/>
              </a:rPr>
              <a:t>UNDER</a:t>
            </a:r>
            <a:r>
              <a:rPr sz="2200" b="0">
                <a:solidFill>
                  <a:srgbClr val="333333"/>
                </a:solidFill>
                <a:latin typeface="Calibri"/>
              </a:rPr>
              <a:t> + </a:t>
            </a:r>
            <a:r>
              <a:rPr sz="2200" b="1">
                <a:solidFill>
                  <a:srgbClr val="8B0000"/>
                </a:solidFill>
                <a:latin typeface="Calibri"/>
              </a:rPr>
              <a:t>SLANT</a:t>
            </a:r>
            <a:r>
              <a:rPr sz="2200" b="0">
                <a:solidFill>
                  <a:srgbClr val="333333"/>
                </a:solidFill>
                <a:latin typeface="Calibri"/>
              </a:rPr>
              <a:t> + </a:t>
            </a:r>
            <a:r>
              <a:rPr sz="2200" b="1">
                <a:solidFill>
                  <a:srgbClr val="CFA700"/>
                </a:solidFill>
                <a:latin typeface="Calibri"/>
              </a:rPr>
              <a:t>ZEUS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2D62"/>
                </a:solidFill>
                <a:latin typeface="Calibri"/>
              </a:rPr>
              <a:t>GRIZZLY</a:t>
            </a:r>
            <a:r>
              <a:rPr sz="2200" b="0">
                <a:solidFill>
                  <a:srgbClr val="333333"/>
                </a:solidFill>
                <a:latin typeface="Calibri"/>
              </a:rPr>
              <a:t> + </a:t>
            </a:r>
            <a:r>
              <a:rPr sz="2200" b="1">
                <a:solidFill>
                  <a:srgbClr val="006B3C"/>
                </a:solidFill>
                <a:latin typeface="Calibri"/>
              </a:rPr>
              <a:t>sWarM</a:t>
            </a:r>
            <a:r>
              <a:rPr sz="2200" b="0">
                <a:solidFill>
                  <a:srgbClr val="333333"/>
                </a:solidFill>
                <a:latin typeface="Calibri"/>
              </a:rPr>
              <a:t> + </a:t>
            </a:r>
            <a:r>
              <a:rPr sz="2200" b="1">
                <a:solidFill>
                  <a:srgbClr val="CFA700"/>
                </a:solidFill>
                <a:latin typeface="Calibri"/>
              </a:rPr>
              <a:t>ZORRO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74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2D62"/>
                </a:solidFill>
                <a:latin typeface="Calibri"/>
              </a:rPr>
              <a:t>EYES</a:t>
            </a:r>
            <a:r>
              <a:rPr sz="2200" b="0">
                <a:solidFill>
                  <a:srgbClr val="333333"/>
                </a:solidFill>
                <a:latin typeface="Calibri"/>
              </a:rPr>
              <a:t> + </a:t>
            </a:r>
            <a:r>
              <a:rPr sz="2200" b="1">
                <a:solidFill>
                  <a:srgbClr val="8B0000"/>
                </a:solidFill>
                <a:latin typeface="Calibri"/>
              </a:rPr>
              <a:t>JACKS</a:t>
            </a:r>
            <a:r>
              <a:rPr sz="2200" b="0">
                <a:solidFill>
                  <a:srgbClr val="333333"/>
                </a:solidFill>
                <a:latin typeface="Calibri"/>
              </a:rPr>
              <a:t> + </a:t>
            </a:r>
            <a:r>
              <a:rPr sz="2200" b="1">
                <a:solidFill>
                  <a:srgbClr val="006B3C"/>
                </a:solidFill>
                <a:latin typeface="Calibri"/>
              </a:rPr>
              <a:t>sWarM</a:t>
            </a:r>
            <a:r>
              <a:rPr sz="2200" b="0">
                <a:solidFill>
                  <a:srgbClr val="333333"/>
                </a:solidFill>
                <a:latin typeface="Calibri"/>
              </a:rPr>
              <a:t> + </a:t>
            </a:r>
            <a:r>
              <a:rPr sz="2200" b="1">
                <a:solidFill>
                  <a:srgbClr val="CFA700"/>
                </a:solidFill>
                <a:latin typeface="Calibri"/>
              </a:rPr>
              <a:t>ZORRO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Front/stunt/blitz calls signaled — coverage is verbal. Safeties echo and relay.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TEMPO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  <a:r>
              <a:t>When the offense’s tempo is faster than we can signal our plays in,</a:t>
            </a:r>
            <a:br/>
            <a:r>
              <a:t>the defense defaults to the tempo call.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560320"/>
            <a:ext cx="6675120" cy="1371600"/>
          </a:xfrm>
          <a:prstGeom prst="rect">
            <a:avLst/>
          </a:prstGeom>
          <a:solidFill>
            <a:srgbClr val="002D62"/>
          </a:solidFill>
          <a:ln>
            <a:solidFill>
              <a:srgbClr val="CFA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651760"/>
            <a:ext cx="66751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DEFAULT:  SHADE + NINJA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70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Set before each possession. Can change at any point during the game.</a:t>
            </a:r>
          </a:p>
          <a:p>
            <a:pPr>
              <a:lnSpc>
                <a:spcPts val="270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Safeties must know the current tempo call at all times.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6CACE4"/>
                </a:solidFill>
                <a:latin typeface="Calibri"/>
              </a:defRPr>
            </a:pPr>
            <a:r>
              <a:t>What’s in the Toolbox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FRONT MENU  —  4-DOWN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7132320"/>
              </a:tblGrid>
              <a:tr h="5080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Front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Interior (A/T/N/E)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When to Call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/ 3 / 2i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 vs spread / RPO. Where we live.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UNDER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/ 2i / 3 / 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Tendency breaker. Boundary-run weeks.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/ 2i / 2i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Vs zone / duo. Square the interior.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WIDE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/ 3 / 3 / 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Force the bounce. Vs B-gap heavy / gap schemes.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DEUCES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/ 2 / 2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Vs Wing-T / pullers.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GRIZZLY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4i / 2i / 2i / 4i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Goal line. Power / counter / zone. Edge pressure.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/ 3 / 1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Overload field / confuse OL. SPLIT → SHADE post-snap. ANGLE → EYES post-snap.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BOSS UNDER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/ 1 / 3 / 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Overload boundary / confuse OL. SPLIT or ANGLE combos.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2D62"/>
                </a:solidFill>
                <a:latin typeface="Calibri"/>
              </a:defRPr>
            </a:pPr>
            <a:r>
              <a:t>TE SET rule overrides all fronts except GRIZZLY when TE is attached.</a:t>
            </a:r>
            <a:br/>
            <a:r>
              <a:t>DISCO: Week-by-week SHADE adjustment based on the back and offensive tendencies.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3-DOWN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Our odd front package. Keeps LBs clean, controls the center, adjusts to personnel.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6126480"/>
              </a:tblGrid>
              <a:tr h="585216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Interior (A/T/N)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Feature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4i / 0 / 4i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 3-down. Contain adjusts by coverage.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 / 0 / 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2-gap interior. OLBs contain.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/ 0 /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Edges at 5. A and N are contain.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SLIP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/ 0 / 4i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Penetrating. Takes B out of run/pass conflict.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B = Field OLB.  E = Boundary OLB.  Strength = Field.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STUNT MENU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Coordinated DL movement. Every stunt has rules for who moves and 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303520" cy="3657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SLANT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Slant to field. 4-down: T+N. 3-down: A+T+N.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ANGLE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Slant to boundary. 4-down: T+N. 3-down: A+T+N.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PINCH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Pinch inside. 4-down: T+N (A gaps). 3-down: A+N (B gaps).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JACKS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Shoot out. 4-down: T+N (B gaps). 3-down: A+N (C gaps).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VEER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Slant to motion / to TE. 4-down: T+N. 3-down: A+T+N.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SPLIT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BOSS / BOSS UNDER / GRIZZLY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303520" cy="3657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CRASH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Everyone shoots inside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ANCHOR ATTACK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A washes OL inside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EDGE ATTACK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E washes OL inside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ANCHOR RAVEN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A shoots B gap</a:t>
            </a:r>
          </a:p>
          <a:p>
            <a:pPr>
              <a:lnSpc>
                <a:spcPts val="2400"/>
              </a:lnSpc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333333"/>
                </a:solidFill>
                <a:latin typeface="Calibri"/>
              </a:rPr>
              <a:t>EDGE RAVEN </a:t>
            </a:r>
            <a:r>
              <a:rPr sz="1600" b="0">
                <a:solidFill>
                  <a:srgbClr val="333333"/>
                </a:solidFill>
                <a:latin typeface="Calibri"/>
              </a:rPr>
              <a:t>— E shoots B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2D62"/>
                </a:solidFill>
                <a:latin typeface="Calibri"/>
              </a:defRPr>
            </a:pPr>
            <a:r>
              <a:t>Front-stunt legality matrix exists — not every stunt works with every front.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PRESSURE MENU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Pressure to take away something — not just to be aggressive.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2D62"/>
                </a:solidFill>
                <a:latin typeface="Calibri"/>
              </a:defRPr>
            </a:pPr>
            <a:r>
              <a:t>Singles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2004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Mike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Will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Bandit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Dawg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0116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2D62"/>
                </a:solidFill>
                <a:latin typeface="Calibri"/>
              </a:defRPr>
            </a:pPr>
            <a:r>
              <a:t>Combos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32004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sWarM (M+W)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BooM (B+M)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BoW (B+W)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MaD (M+D)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Calibri"/>
              </a:rPr>
              <a:t>Eat (M+W+B)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1168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2D62"/>
                </a:solidFill>
                <a:latin typeface="Calibri"/>
              </a:defRPr>
            </a:pPr>
            <a:r>
              <a:t>Packaged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468880"/>
            <a:ext cx="365760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Hammer </a:t>
            </a:r>
            <a:r>
              <a:rPr sz="1800" b="0">
                <a:solidFill>
                  <a:srgbClr val="333333"/>
                </a:solidFill>
                <a:latin typeface="Calibri"/>
              </a:rPr>
              <a:t>— B edge + Anchor Attack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Shave </a:t>
            </a:r>
            <a:r>
              <a:rPr sz="1800" b="0">
                <a:solidFill>
                  <a:srgbClr val="333333"/>
                </a:solidFill>
                <a:latin typeface="Calibri"/>
              </a:rPr>
              <a:t>— W edge + Edge Attack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Bandit Raven </a:t>
            </a:r>
            <a:r>
              <a:rPr sz="1800" b="0">
                <a:solidFill>
                  <a:srgbClr val="333333"/>
                </a:solidFill>
                <a:latin typeface="Calibri"/>
              </a:rPr>
              <a:t>— B blitzes C gap, A shoots B gap</a:t>
            </a:r>
          </a:p>
          <a:p>
            <a:pPr>
              <a:lnSpc>
                <a:spcPts val="2520"/>
              </a:lnSpc>
              <a:spcBef>
                <a:spcPts val="400"/>
              </a:spcBef>
              <a:spcAft>
                <a:spcPts val="200"/>
              </a:spcAft>
            </a:pPr>
            <a:r>
              <a:rPr sz="1800" b="1">
                <a:solidFill>
                  <a:srgbClr val="333333"/>
                </a:solidFill>
                <a:latin typeface="Calibri"/>
              </a:rPr>
              <a:t>Will Raven </a:t>
            </a:r>
            <a:r>
              <a:rPr sz="1800" b="0">
                <a:solidFill>
                  <a:srgbClr val="333333"/>
                </a:solidFill>
                <a:latin typeface="Calibri"/>
              </a:rPr>
              <a:t>— W blitzes C gap, E shoots B gap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46320"/>
            <a:ext cx="10698480" cy="109728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MUG: M and/or W walk up to the LOS at their gap. Same job, different picture.</a:t>
            </a:r>
            <a:br/>
            <a:r>
              <a:t>Weekly menu locked by Friday. Game-plan specials installed as needed.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FOUR COVERAGE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698480" cy="105156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02D62"/>
                </a:solidFill>
                <a:latin typeface="Calibri"/>
              </a:defRPr>
            </a:pPr>
            <a:r>
              <a:t>NINJA  —  Flip (SKY/MOD) / Clamp (Cloud/Read 2) / Poach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Pattern-match quarters. Our base coverage. Most of our snaps.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10698480" cy="105156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02D62"/>
                </a:solidFill>
                <a:latin typeface="Calibri"/>
              </a:defRPr>
            </a:pPr>
            <a:r>
              <a:t>COVER 1  (Man-Match)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Oregon (FS = MOF) / Oklahoma (D = MOF) / Ohio (B = MOF). Man assignments + MOF safety help.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49040"/>
            <a:ext cx="10698480" cy="105156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02D62"/>
                </a:solidFill>
                <a:latin typeface="Calibri"/>
              </a:defRPr>
            </a:pPr>
            <a:r>
              <a:t>COVER 0 / Z-FAMILY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Zero coverage. Zeus / Zorro / Zunnel / Zill / Zike. Run-first, delayed pressure. No deep help.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37760"/>
            <a:ext cx="10698480" cy="105156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02D62"/>
                </a:solidFill>
                <a:latin typeface="Calibri"/>
              </a:defRPr>
            </a:pPr>
            <a:r>
              <a:t>VIKING  (Cover 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Spot-drop Cover 3. Safe, anti-explosive.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2D62"/>
                </a:solidFill>
                <a:latin typeface="Calibri"/>
              </a:defRPr>
            </a:pPr>
            <a:r>
              <a:t>Zeus is the pressure. Viking is the safety net. NINJA is the engine of the defense.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HOW IT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6CACE4"/>
                </a:solidFill>
                <a:latin typeface="Calibri"/>
              </a:defRPr>
            </a:pPr>
            <a:r>
              <a:t>Same picture pre-snap. Different answers post-snap.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ONE LOOK, MULTIPLE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333333"/>
                </a:solidFill>
                <a:latin typeface="Calibri"/>
              </a:defRPr>
            </a:pPr>
            <a:r>
              <a:t>We have a primary two-high shell and a three-high shell. Both have multiple</a:t>
            </a:r>
            <a:br/>
            <a:r>
              <a:t>post-snap pictures. The offense can’t tell what’s coming.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3200400" cy="274320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2D62"/>
                </a:solidFill>
                <a:latin typeface="Calibri"/>
              </a:defRPr>
            </a:pPr>
            <a:r>
              <a:t>SHADE + NINJA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83464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100"/>
              </a:lnSpc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Base call</a:t>
            </a:r>
          </a:p>
          <a:p>
            <a:pPr>
              <a:lnSpc>
                <a:spcPts val="2100"/>
              </a:lnSpc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Pattern-match quarters</a:t>
            </a:r>
          </a:p>
          <a:p>
            <a:pPr>
              <a:lnSpc>
                <a:spcPts val="2100"/>
              </a:lnSpc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Two-high stays two-high</a:t>
            </a:r>
          </a:p>
          <a:p>
            <a:pPr>
              <a:lnSpc>
                <a:spcPts val="2100"/>
              </a:lnSpc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Read and react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560320"/>
            <a:ext cx="3200400" cy="274320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02D62"/>
                </a:solidFill>
                <a:latin typeface="Calibri"/>
              </a:defRPr>
            </a:pPr>
            <a:r>
              <a:t>SHADE + ANGLE + Mike + NINJA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00400"/>
            <a:ext cx="283464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100"/>
              </a:lnSpc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Same pre-snap shell</a:t>
            </a:r>
          </a:p>
          <a:p>
            <a:pPr>
              <a:lnSpc>
                <a:spcPts val="2100"/>
              </a:lnSpc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DL slants to boundary</a:t>
            </a:r>
          </a:p>
          <a:p>
            <a:pPr>
              <a:lnSpc>
                <a:spcPts val="2100"/>
              </a:lnSpc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M blitzes his gap</a:t>
            </a:r>
          </a:p>
          <a:p>
            <a:pPr>
              <a:lnSpc>
                <a:spcPts val="2100"/>
              </a:lnSpc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Added pressure, same look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560320"/>
            <a:ext cx="3200400" cy="2743200"/>
          </a:xfrm>
          <a:prstGeom prst="rect">
            <a:avLst/>
          </a:prstGeom>
          <a:solidFill>
            <a:srgbClr val="E8F0F8"/>
          </a:solidFill>
          <a:ln>
            <a:solidFill>
              <a:srgbClr val="6CA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2D62"/>
                </a:solidFill>
                <a:latin typeface="Calibri"/>
              </a:defRPr>
            </a:pPr>
            <a:r>
              <a:t>SHADE + ZEUS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200400"/>
            <a:ext cx="283464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100"/>
              </a:lnSpc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Same pre-snap shell</a:t>
            </a:r>
          </a:p>
          <a:p>
            <a:pPr>
              <a:lnSpc>
                <a:spcPts val="2100"/>
              </a:lnSpc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Zero coverage (no deep help)</a:t>
            </a:r>
          </a:p>
          <a:p>
            <a:pPr>
              <a:lnSpc>
                <a:spcPts val="2100"/>
              </a:lnSpc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Run-first, then rush</a:t>
            </a:r>
          </a:p>
          <a:p>
            <a:pPr>
              <a:lnSpc>
                <a:spcPts val="2100"/>
              </a:lnSpc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Show it, then call it 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002D62"/>
                </a:solidFill>
                <a:latin typeface="Calibri"/>
              </a:defRPr>
            </a:pPr>
            <a:r>
              <a:t>The offense can’t diagnose the call pre-snap. That’s the advantage.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7040880"/>
              </a:tblGrid>
              <a:tr h="4754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002D6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4-Down Fronts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SHADE, UNDER, EYES, WIDE, DEUCES, GRIZZLY, BOSS, BOSS UNDER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3-Down Packages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MINT, ACE, JET, SLIP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SLANT, ANGLE, PINCH, JACKS, SPLIT, CRASH, VEER, AA, EA, AR, 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Single Pressures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Mike, Will, Bandit, Dawg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Combo Pressures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sWarM, BooM, BoW, MaD, 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Packaged Pressures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Hammer, Shave, Bandit Raven, Will Raven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Coverage Families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NINJA, Cover 1, Cover 0/Z, VIKING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Z-Family Calls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Zeus, Zorro, Zunnel, Zill, Zike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BUMP, BANJO, EXCHANGE, UNDER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02D62"/>
                </a:solidFill>
                <a:latin typeface="Calibri"/>
              </a:defRPr>
            </a:pPr>
            <a:r>
              <a:t>Multiple looks. Simple, consistent rules. Layered install over 10 camp days.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WHAT COMES NEXT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River Valley Vikings | 2026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30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Playbook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Still being finished (may be more than 27 sections). Will be shared via Google Drive.</a:t>
            </a:r>
          </a:p>
          <a:p>
            <a:pPr>
              <a:lnSpc>
                <a:spcPts val="30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Unit meetings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DL, LBs, DBs will each get deep-dives on their responsibilities.</a:t>
            </a:r>
          </a:p>
          <a:p>
            <a:pPr>
              <a:lnSpc>
                <a:spcPts val="30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Camp install plan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10-day layered install. Probably next meeting.</a:t>
            </a:r>
          </a:p>
          <a:p>
            <a:pPr>
              <a:lnSpc>
                <a:spcPts val="30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Diagram documents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Visual references for every front, coverage, and pressure (corrections in progress).</a:t>
            </a:r>
          </a:p>
          <a:p>
            <a:pPr>
              <a:lnSpc>
                <a:spcPts val="30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Quick-reference cards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M/W gap fits, NINJA teaching summary, coverage families, Bandit assignment.</a:t>
            </a:r>
          </a:p>
          <a:p>
            <a:pPr>
              <a:lnSpc>
                <a:spcPts val="3000"/>
              </a:lnSpc>
              <a:spcBef>
                <a:spcPts val="400"/>
              </a:spcBef>
              <a:spcAft>
                <a:spcPts val="200"/>
              </a:spcAft>
            </a:pPr>
            <a:r>
              <a:rPr sz="2000" b="1">
                <a:solidFill>
                  <a:srgbClr val="333333"/>
                </a:solidFill>
                <a:latin typeface="Calibri"/>
              </a:rPr>
              <a:t>This presentation </a:t>
            </a:r>
            <a:r>
              <a:rPr sz="2000" b="0">
                <a:solidFill>
                  <a:srgbClr val="333333"/>
                </a:solidFill>
                <a:latin typeface="Calibri"/>
              </a:rPr>
              <a:t>— Will be shared on the Drive after the meeting.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50800"/>
          </a:xfrm>
          <a:prstGeom prst="rect">
            <a:avLst/>
          </a:prstGeom>
          <a:solidFill>
            <a:srgbClr val="C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FAST.  PHYSICAL.  DISCIPLINED.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CFA700"/>
                </a:solidFill>
                <a:latin typeface="Calibri"/>
              </a:defRPr>
            </a:pPr>
            <a:r>
              <a:t>River Valley Vikings |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6CACE4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